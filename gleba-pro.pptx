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0" y="0"/>
            <a:ext cx="274320" cy="6858000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</a:rPr>
              <a:t>gleba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7E4C7"/>
                </a:solidFill>
              </a:rPr>
              <a:t>Gestion professionnelle
de l'exploitation agricole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069080"/>
            <a:ext cx="3200400" cy="45720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Maraîchage · Verger · Élevage ·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0972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6A4F"/>
                </a:solidFill>
              </a:rPr>
              <a:t>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37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espèces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212848"/>
            <a:ext cx="3657600" cy="1828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37743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6A4F"/>
                </a:solidFill>
              </a:rPr>
              <a:t>154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017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itinéraires techniques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493007"/>
            <a:ext cx="3657600" cy="1828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657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6A4F"/>
                </a:solidFill>
              </a:rPr>
              <a:t>700+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297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arbres référencés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773168"/>
            <a:ext cx="3657600" cy="1828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937759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D6A4F"/>
                </a:solidFill>
              </a:rPr>
              <a:t>39+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577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outils 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6053327"/>
            <a:ext cx="3657600" cy="1828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7315200" cy="274320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gleba.fr  ·  Open-source AGPL-3.0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Fonctionnalités cœur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0972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409B6F"/>
                </a:solidFill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372770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3727703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3544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📅  Calendrier &amp; Planification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19"/>
            <a:ext cx="3590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Semis, plantations, récoltes sur 4 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Rotations automatiques par famille botanique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Drag &amp; drop interactif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9183" y="1051560"/>
            <a:ext cx="372770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9183" y="1051560"/>
            <a:ext cx="3727703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6344" y="1124712"/>
            <a:ext cx="3544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💧  Météo &amp; Irrigation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6344" y="1645919"/>
            <a:ext cx="3590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Données Open-Meteo (gratuit, sans clé)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Calcul ET₀ (FAO), bilan hydrique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Urgences irrigation classées par culture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9767" y="1051560"/>
            <a:ext cx="372770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9767" y="1051560"/>
            <a:ext cx="3727703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6928" y="1124712"/>
            <a:ext cx="3544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🗺️  Plan 2D du jardin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6928" y="1645919"/>
            <a:ext cx="3590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Visualisation spatiale des planches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Sillons aux espacements réels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Validation des configurations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520440"/>
            <a:ext cx="372770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520440"/>
            <a:ext cx="3727703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93592"/>
            <a:ext cx="3544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Stocks &amp; Récoltes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14800"/>
            <a:ext cx="3590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Semences, plants, engrais en temps réel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Valorisation économique €/kg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Rendements par planche et par espèce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9183" y="3520440"/>
            <a:ext cx="372770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39183" y="3520440"/>
            <a:ext cx="3727703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6344" y="3593592"/>
            <a:ext cx="3544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6344" y="4114800"/>
            <a:ext cx="3590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Vue hebdomadaire et annuelle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Graphiques de production (Recharts)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Alertes et priorités du jour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9767" y="3520440"/>
            <a:ext cx="3727703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9767" y="3520440"/>
            <a:ext cx="3727703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6928" y="3593592"/>
            <a:ext cx="3544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🌍  Géocarte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6928" y="4114800"/>
            <a:ext cx="359054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Parcelles géoréférencées (GeoJSON)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Intégration cadastre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444444"/>
                </a:solidFill>
              </a:rPr>
              <a:t>• Calques personnalisables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Modules spécialisés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0972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409B6F"/>
                </a:solidFill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5806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5806440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🌳  Verger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700+ arbres fruitiers, petits fruits et forestiers.
Récoltes fruits, production bois (élagage/abattage),
compatibilités de pollinisation, observations de santé.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806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806440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🐔  Élevage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Animaux individuels et lots (volailles, mammifères).
Suivi production d'œufs, consommation aliments,
soins, vaccinations, généalogie complète.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749039"/>
            <a:ext cx="5806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749039"/>
            <a:ext cx="5806440" cy="566928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840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📋  Traçabilité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348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Registre phytosanitaire (AMM, DAR, dose).
Registre culture, carnet sanitaire animal.
Export Lexagri — conformité réglementaire.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8064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5806440" cy="566928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💶  Comptabilité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Clients, factures avec TVA multi-taux (5.5/10/20%).
Ventes circuit court, dépenses, traçabilité auto.
Lien automatique vers récoltes et interventions.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Gleba + votre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0972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409B6F"/>
                </a:solidFill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11384280" cy="9601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7E4C7"/>
                </a:solidFill>
              </a:rPr>
              <a:t>Gleba n'impose aucune IA. Il expose ses données et ses actions via un standard ouvert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 MCP (Model Context Protocol) — et vous branchez l'IA de votre choix.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84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MCP, c'est la prise USB universelle des IA.  Gleba est le périphérique.  Vous choisissez l'ordinateur.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51760"/>
            <a:ext cx="11384280" cy="438912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Votre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974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Avantage clé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27248"/>
            <a:ext cx="11384280" cy="530352"/>
          </a:xfrm>
          <a:prstGeom prst="rect">
            <a:avLst/>
          </a:prstGeom>
          <a:solidFill>
            <a:srgbClr val="22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28"/>
                </a:solidFill>
              </a:rPr>
              <a:t>Claude (Anthropic)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8211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7E4C7"/>
                </a:solidFill>
              </a:rPr>
              <a:t>Claude Desktop → connecté en 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821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Raisonnement agronomique avancé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94176"/>
            <a:ext cx="1138428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28"/>
                </a:solidFill>
              </a:rPr>
              <a:t>ChatGPT (OpenAI)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49039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7E4C7"/>
                </a:solidFill>
              </a:rPr>
              <a:t>Plugin MCP natif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49039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Accessible à tous les abonnés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61104"/>
            <a:ext cx="11384280" cy="530352"/>
          </a:xfrm>
          <a:prstGeom prst="rect">
            <a:avLst/>
          </a:prstGeom>
          <a:solidFill>
            <a:srgbClr val="22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28"/>
                </a:solidFill>
              </a:rPr>
              <a:t>Ollama  (local)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31596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7E4C7"/>
                </a:solidFill>
              </a:rPr>
              <a:t>Modèle qui tourne sur votre machine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1596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Confidentialité totale, 0 donnée externe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28031"/>
            <a:ext cx="1138428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8289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28"/>
                </a:solidFill>
              </a:rPr>
              <a:t>IA spécialisée métier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8289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7E4C7"/>
                </a:solidFill>
              </a:rPr>
              <a:t>Modèle fine-tuné maraîchage / bio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8289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Conseil ultra-précis sur vos cultures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394960"/>
            <a:ext cx="11384280" cy="530352"/>
          </a:xfrm>
          <a:prstGeom prst="rect">
            <a:avLst/>
          </a:prstGeom>
          <a:solidFill>
            <a:srgbClr val="22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4982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28"/>
                </a:solidFill>
              </a:rPr>
              <a:t>Votre propre modèle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44982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7E4C7"/>
                </a:solidFill>
              </a:rPr>
              <a:t>API MCP ouverte, standard Anthropic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44982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Coopérative, CFPPA, R&amp;D agricole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989320"/>
            <a:ext cx="11384280" cy="530352"/>
          </a:xfrm>
          <a:prstGeom prst="rect">
            <a:avLst/>
          </a:prstGeom>
          <a:solidFill>
            <a:srgbClr val="12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7E4C7"/>
                </a:solidFill>
              </a:rPr>
              <a:t>39+ actions disponibles : créer une culture · enregistrer une récolte · planifier une irrigation · consulter la météo · gérer le verger · suivre l'élevage…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Vision &amp;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0972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409B6F"/>
                </a:solidFill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548640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548640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Positionnement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141732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7393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100 % gratuit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Self-hosted Docker, données privées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59152"/>
            <a:ext cx="141732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44144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Open-source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5059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Licence AGPL-3.0, code transparent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26664"/>
            <a:ext cx="141732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108960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29 €/mois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11810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Version Cloud managée (SaaS)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94176"/>
            <a:ext cx="141732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77647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Sans dépendance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785615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Aucune clé API requise (météo, IA locale)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61688"/>
            <a:ext cx="141732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443983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Stack moderne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453127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Next.js 16 · Prisma 5 · PostgreSQL 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29200"/>
            <a:ext cx="1417320" cy="5303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511149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Données enrichies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51206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FranceAgriMer 2026 · ITAB · 154 ITPs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51560"/>
            <a:ext cx="5742432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051560"/>
            <a:ext cx="5742432" cy="5029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0972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Projections de croissance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91640"/>
            <a:ext cx="1051560" cy="41148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1737360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Horizon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1691640"/>
            <a:ext cx="1234439" cy="41148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1" y="173736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Clients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1691640"/>
            <a:ext cx="1417320" cy="41148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17373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MRR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1691640"/>
            <a:ext cx="1371600" cy="41148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97312" y="17373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</a:rPr>
              <a:t>ARR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176272"/>
            <a:ext cx="1051560" cy="484632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2212848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2176272"/>
            <a:ext cx="1234439" cy="484632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1231" y="22128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2176272"/>
            <a:ext cx="1417320" cy="484632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42832" y="2212848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2 000 €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2176272"/>
            <a:ext cx="1371600" cy="484632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97312" y="221284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24 000 €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706624"/>
            <a:ext cx="1051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2743200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2706624"/>
            <a:ext cx="1234439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71231" y="274320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100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2706624"/>
            <a:ext cx="14173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42832" y="27432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2 900 €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0" y="2706624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97312" y="2743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35 000 €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236976"/>
            <a:ext cx="1051560" cy="4846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3273552"/>
            <a:ext cx="960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3E"/>
                </a:solidFill>
              </a:rPr>
              <a:t>M24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79" y="3236976"/>
            <a:ext cx="1234439" cy="4846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71231" y="327355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3E"/>
                </a:solidFill>
              </a:rPr>
              <a:t>250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3236976"/>
            <a:ext cx="1417320" cy="4846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42832" y="32735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3E"/>
                </a:solidFill>
              </a:rPr>
              <a:t>7 250 €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4160" y="3236976"/>
            <a:ext cx="1371600" cy="484632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97312" y="3273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D3E"/>
                </a:solidFill>
              </a:rPr>
              <a:t>87 000 €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794760"/>
            <a:ext cx="5742432" cy="7315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384048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Valorisation estimée à M24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5× ARR  →  ~435 000 €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4617720"/>
            <a:ext cx="5742432" cy="1325880"/>
          </a:xfrm>
          <a:prstGeom prst="rect">
            <a:avLst/>
          </a:prstGeom>
          <a:solidFill>
            <a:srgbClr val="F0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681728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44444"/>
                </a:solidFill>
              </a:rPr>
              <a:t>Marché adressable : ~5 000 maraîchers bio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44444"/>
                </a:solidFill>
              </a:rPr>
              <a:t>en France en phase de numérisation.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44444"/>
                </a:solidFill>
              </a:rPr>
              <a:t>Objectif : 5 % de conversion = 250 clients.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409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6711696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4D3E"/>
                </a:solidFill>
              </a:rPr>
              <a:t>gleba.fr  ·  Open-source AGPL-3.0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